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IBM Plex Sans" panose="020B0503050203000203" pitchFamily="34" charset="0"/>
      <p:regular r:id="rId14"/>
    </p:embeddedFont>
    <p:embeddedFont>
      <p:font typeface="IBM Plex Sans Bold" panose="020B0604020202020204" charset="0"/>
      <p:regular r:id="rId15"/>
    </p:embeddedFont>
    <p:embeddedFont>
      <p:font typeface="Outfit Medium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BFE"/>
    <a:srgbClr val="FBFC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3345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84073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Pizza Sales Performance 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714849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data-driven deep dive into orders, revenue, and growth opportunities.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3024"/>
            <a:ext cx="10868745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The Numbers That Matter</a:t>
            </a:r>
            <a:endParaRPr lang="en-US" sz="3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372295"/>
            <a:ext cx="5243481" cy="37743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93089" y="1356122"/>
            <a:ext cx="5243481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Operational Scale at a Glance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293089" y="1730276"/>
            <a:ext cx="5243481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Massive order volume demonstrates strong market demand and a well-oiled operation capable of handling high throughput.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61475" y="5438180"/>
            <a:ext cx="3536465" cy="876796"/>
          </a:xfrm>
          <a:prstGeom prst="roundRect">
            <a:avLst>
              <a:gd name="adj" fmla="val 16067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blurRad="127" dist="2032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4289" y="5600998"/>
            <a:ext cx="3210837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21,350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4289" y="5923260"/>
            <a:ext cx="3210837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Unique orders executed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7516" y="5438180"/>
            <a:ext cx="3536564" cy="876796"/>
          </a:xfrm>
          <a:prstGeom prst="roundRect">
            <a:avLst>
              <a:gd name="adj" fmla="val 16067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blurRad="127" dist="2032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490330" y="5600998"/>
            <a:ext cx="3210936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48,620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490330" y="5923260"/>
            <a:ext cx="3210936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Pizzas sold total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993656" y="5438180"/>
            <a:ext cx="3536465" cy="876796"/>
          </a:xfrm>
          <a:prstGeom prst="roundRect">
            <a:avLst>
              <a:gd name="adj" fmla="val 16067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blurRad="127" dist="2032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156470" y="5600998"/>
            <a:ext cx="3210837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2.28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156470" y="5923260"/>
            <a:ext cx="3210837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Items per order — strong group dining</a:t>
            </a:r>
            <a:endParaRPr lang="en-US" sz="1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2A90FE-F50F-8D37-1F54-05F082AA59F6}"/>
              </a:ext>
            </a:extLst>
          </p:cNvPr>
          <p:cNvSpPr/>
          <p:nvPr/>
        </p:nvSpPr>
        <p:spPr>
          <a:xfrm>
            <a:off x="11050438" y="6443932"/>
            <a:ext cx="1069675" cy="405442"/>
          </a:xfrm>
          <a:prstGeom prst="rect">
            <a:avLst/>
          </a:prstGeom>
          <a:solidFill>
            <a:srgbClr val="FBFCFD"/>
          </a:solidFill>
          <a:ln>
            <a:solidFill>
              <a:srgbClr val="FBF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034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Size Dominance: Large &amp; Medium Rule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6708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74347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Revenue Powerhouses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227759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6B35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Large (L) &amp; Medium (M)</a:t>
            </a: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sizes capture a commanding </a:t>
            </a:r>
            <a:r>
              <a:rPr lang="en-US" sz="145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70% of total revenue</a:t>
            </a: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driven by premium per-unit pricing and high order frequency.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332776" y="3305076"/>
            <a:ext cx="5203794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Large:</a:t>
            </a: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40% revenue share — the dominant format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Medium:</a:t>
            </a: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30% — ideal for groups and families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Small:</a:t>
            </a: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18% — individual and niche demand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XL:</a:t>
            </a: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12% — specialty group sharing occasions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332776" y="4925616"/>
            <a:ext cx="5203794" cy="1039416"/>
          </a:xfrm>
          <a:prstGeom prst="roundRect">
            <a:avLst>
              <a:gd name="adj" fmla="val 16367"/>
            </a:avLst>
          </a:prstGeom>
          <a:solidFill>
            <a:srgbClr val="CFDBFC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1783" y="5218708"/>
            <a:ext cx="236234" cy="1890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47024" y="5142905"/>
            <a:ext cx="440053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Prioritize L &amp; M inventory to protect the 70% revenue core.</a:t>
            </a:r>
            <a:endParaRPr lang="en-US" sz="14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A5A45A-1803-1B56-20DA-BAEAB19981CD}"/>
              </a:ext>
            </a:extLst>
          </p:cNvPr>
          <p:cNvSpPr/>
          <p:nvPr/>
        </p:nvSpPr>
        <p:spPr>
          <a:xfrm>
            <a:off x="11050438" y="6443932"/>
            <a:ext cx="1069675" cy="405442"/>
          </a:xfrm>
          <a:prstGeom prst="rect">
            <a:avLst/>
          </a:prstGeom>
          <a:solidFill>
            <a:srgbClr val="FBFCFD"/>
          </a:solidFill>
          <a:ln>
            <a:solidFill>
              <a:srgbClr val="FBF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11088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Top Pizza Performers</a:t>
            </a:r>
            <a:endParaRPr lang="en-US" sz="3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485205"/>
            <a:ext cx="3053877" cy="258871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074959" y="1626989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1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875881" y="2241153"/>
            <a:ext cx="26250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Thai Chicken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875881" y="2649835"/>
            <a:ext cx="26250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Highest cumulative sales revenue across all categories — the undisputed #1 performer on the menu.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04359" y="1485205"/>
            <a:ext cx="3053976" cy="258871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317843" y="1626989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2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4118765" y="2241153"/>
            <a:ext cx="2625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Barbecue Chicken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4118765" y="2649835"/>
            <a:ext cx="26251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Strong second performer with broad appeal across size variants and customer cohorts.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262934"/>
            <a:ext cx="6296860" cy="198387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696451" y="4404717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3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875881" y="5018881"/>
            <a:ext cx="586804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Classic Deluxe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875881" y="5427563"/>
            <a:ext cx="586804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Consistent baseline demand year-round — a reliable anchor of the menu lineup.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Category Revenue Breakdown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Balanced Portfolio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453779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 four categories perform with remarkable parity — a sign of diverse, healthy customer preferences and a well-crafted menu.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531096"/>
            <a:ext cx="5203794" cy="2012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Classic:</a:t>
            </a: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26.9% — consistent baseline, high order frequency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Supreme:</a:t>
            </a: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25.5% — premium toppings, higher ticket value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Chicken:</a:t>
            </a: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24.0% — strong in medium &amp; large sizes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Veggie:</a:t>
            </a: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23.6% — stable across all customer cohorts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776" y="1993106"/>
            <a:ext cx="5203794" cy="374580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A987C11-F637-ED7E-00B4-37E4CC1D1858}"/>
              </a:ext>
            </a:extLst>
          </p:cNvPr>
          <p:cNvSpPr/>
          <p:nvPr/>
        </p:nvSpPr>
        <p:spPr>
          <a:xfrm>
            <a:off x="11050438" y="6443932"/>
            <a:ext cx="1069675" cy="405442"/>
          </a:xfrm>
          <a:prstGeom prst="rect">
            <a:avLst/>
          </a:prstGeom>
          <a:solidFill>
            <a:srgbClr val="FBFCFD"/>
          </a:solidFill>
          <a:ln>
            <a:solidFill>
              <a:srgbClr val="FBF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Peak Hours &amp; Days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When Orders Surge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Lunch and Dinner windows together account for 55%+ of daily transactions</a:t>
            </a: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making staffing and ingredient readiness during these windows mission-critical.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332776" y="3531096"/>
            <a:ext cx="5203794" cy="164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Friday &amp; Saturday evenings</a:t>
            </a: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massive order spikes, peak of the week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July &amp; May</a:t>
            </a: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highest seasonal ordering volumes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Thursdays &amp; Fridays</a:t>
            </a: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sharp mid-week to weekend ramp-up</a:t>
            </a:r>
            <a:endParaRPr lang="en-US" sz="14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74FAC5-AE38-2DD6-F370-2187F1DD2901}"/>
              </a:ext>
            </a:extLst>
          </p:cNvPr>
          <p:cNvSpPr/>
          <p:nvPr/>
        </p:nvSpPr>
        <p:spPr>
          <a:xfrm>
            <a:off x="11050438" y="6443932"/>
            <a:ext cx="1069675" cy="405442"/>
          </a:xfrm>
          <a:prstGeom prst="rect">
            <a:avLst/>
          </a:prstGeom>
          <a:solidFill>
            <a:srgbClr val="FBFCFD"/>
          </a:solidFill>
          <a:ln>
            <a:solidFill>
              <a:srgbClr val="FBF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05730"/>
            <a:ext cx="6296860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Strategic Recommendations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233360" y="1391146"/>
            <a:ext cx="3068065" cy="2751931"/>
          </a:xfrm>
          <a:prstGeom prst="roundRect">
            <a:avLst>
              <a:gd name="adj" fmla="val 5699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blurRad="127" dist="2286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13934" y="1571724"/>
            <a:ext cx="522671" cy="522684"/>
          </a:xfrm>
          <a:prstGeom prst="ellipse">
            <a:avLst/>
          </a:prstGeom>
          <a:solidFill>
            <a:srgbClr val="A2B9F9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57698" y="1715393"/>
            <a:ext cx="235143" cy="2351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13934" y="2255044"/>
            <a:ext cx="270691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Inventory Forecasting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5413934" y="2623542"/>
            <a:ext cx="2706917" cy="13389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Dynamically adjust cheese, dough, and proteins for peak days — Thursday through Saturday — to avoid shortfalls during the highest-revenue windows.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8462056" y="1391146"/>
            <a:ext cx="3068164" cy="2751931"/>
          </a:xfrm>
          <a:prstGeom prst="roundRect">
            <a:avLst>
              <a:gd name="adj" fmla="val 5699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blurRad="127" dist="2286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8642630" y="1571724"/>
            <a:ext cx="522671" cy="522684"/>
          </a:xfrm>
          <a:prstGeom prst="ellipse">
            <a:avLst/>
          </a:prstGeom>
          <a:solidFill>
            <a:srgbClr val="A2B9F9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86394" y="1715393"/>
            <a:ext cx="235143" cy="2351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42630" y="2255044"/>
            <a:ext cx="270701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Weekend Marketing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8642630" y="2623542"/>
            <a:ext cx="2707017" cy="13389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Launch targeted promotions during Friday and Saturday dinner rushes to capture incremental spend at the highest-traffic moments of the week.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5233360" y="4303712"/>
            <a:ext cx="6296860" cy="1948557"/>
          </a:xfrm>
          <a:prstGeom prst="roundRect">
            <a:avLst>
              <a:gd name="adj" fmla="val 8048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blurRad="127" dist="2286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5413934" y="4484291"/>
            <a:ext cx="522671" cy="522684"/>
          </a:xfrm>
          <a:prstGeom prst="ellipse">
            <a:avLst/>
          </a:prstGeom>
          <a:solidFill>
            <a:srgbClr val="A2B9F9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7698" y="4627959"/>
            <a:ext cx="235143" cy="2351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13934" y="5167610"/>
            <a:ext cx="593571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Menu Engineering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5413934" y="5536109"/>
            <a:ext cx="5935712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Feature top-grossing Chicken and Supreme pizzas prominently on digital menus and physical boards to guide customers toward high-margin choices.</a:t>
            </a:r>
            <a:endParaRPr lang="en-US" sz="13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35FB9C-BF72-8D44-9C46-6CDEEE6CDC34}"/>
              </a:ext>
            </a:extLst>
          </p:cNvPr>
          <p:cNvSpPr/>
          <p:nvPr/>
        </p:nvSpPr>
        <p:spPr>
          <a:xfrm>
            <a:off x="11050438" y="6443932"/>
            <a:ext cx="1069675" cy="405442"/>
          </a:xfrm>
          <a:prstGeom prst="rect">
            <a:avLst/>
          </a:prstGeom>
          <a:solidFill>
            <a:srgbClr val="FBFCFD"/>
          </a:solidFill>
          <a:ln>
            <a:solidFill>
              <a:srgbClr val="FBF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730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Customer Satisfaction &amp; Order Trends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84052"/>
            <a:ext cx="6336745" cy="41639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65727" y="1741488"/>
            <a:ext cx="407074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Our steady increase in order volume, particularly during the summer months, strongly correlates with high customer satisfaction. Positive experiences drive repeat business and organic growth, reinforcing our market position.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7465727" y="3726061"/>
            <a:ext cx="4070744" cy="1578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Consistent growth from January to July indicates strong customer loyalty.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Peak summer months (May-July) highlight potential for seasonal campaigns and retention strategies.</a:t>
            </a:r>
            <a:endParaRPr lang="en-US" sz="14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CFC311-60F9-2CE0-2F21-DCD2E525A00A}"/>
              </a:ext>
            </a:extLst>
          </p:cNvPr>
          <p:cNvSpPr/>
          <p:nvPr/>
        </p:nvSpPr>
        <p:spPr>
          <a:xfrm>
            <a:off x="11050438" y="6443932"/>
            <a:ext cx="1069675" cy="405442"/>
          </a:xfrm>
          <a:prstGeom prst="rect">
            <a:avLst/>
          </a:prstGeom>
          <a:solidFill>
            <a:srgbClr val="FBFCFD"/>
          </a:solidFill>
          <a:ln>
            <a:solidFill>
              <a:srgbClr val="FBF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6659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Unlocking Revenue Growth Potential</a:t>
            </a:r>
            <a:endParaRPr lang="en-US" sz="3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519337"/>
            <a:ext cx="6354008" cy="4175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39732" y="1499890"/>
            <a:ext cx="4096739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Strategic Uplift Targets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7439732" y="1922661"/>
            <a:ext cx="4096739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By implementing key optimization strategies, we project a substantial increase in annual revenue, building on our current performance.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439732" y="2846090"/>
            <a:ext cx="4096739" cy="1937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Inventory Forecasting:</a:t>
            </a:r>
            <a:r>
              <a:rPr lang="en-US" sz="13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300" dirty="0">
                <a:solidFill>
                  <a:srgbClr val="FF6B3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~8%</a:t>
            </a:r>
            <a:r>
              <a:rPr lang="en-US" sz="13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uplift by reducing waste and ensuring stock for peak demand.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Weekend Marketing:</a:t>
            </a:r>
            <a:r>
              <a:rPr lang="en-US" sz="13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300" dirty="0">
                <a:solidFill>
                  <a:srgbClr val="F793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~12%</a:t>
            </a:r>
            <a:r>
              <a:rPr lang="en-US" sz="13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uplift through targeted promotions during high-traffic times.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Menu Engineering:</a:t>
            </a:r>
            <a:r>
              <a:rPr lang="en-US" sz="13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300" dirty="0">
                <a:solidFill>
                  <a:srgbClr val="FDB9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~15%</a:t>
            </a:r>
            <a:r>
              <a:rPr lang="en-US" sz="13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uplift by promoting high-margin items and optimizing menu placement.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439732" y="4957961"/>
            <a:ext cx="4096739" cy="1148655"/>
          </a:xfrm>
          <a:prstGeom prst="roundRect">
            <a:avLst>
              <a:gd name="adj" fmla="val 13422"/>
            </a:avLst>
          </a:prstGeom>
          <a:solidFill>
            <a:srgbClr val="CFDBFC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0979" y="5202833"/>
            <a:ext cx="214109" cy="1712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996335" y="5140424"/>
            <a:ext cx="3368888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combined 35% growth potential could elevate annual revenue from $1M to $1.35M.</a:t>
            </a:r>
            <a:endParaRPr lang="en-US" sz="13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FF2FD1-04D7-A087-7999-BDA09321E871}"/>
              </a:ext>
            </a:extLst>
          </p:cNvPr>
          <p:cNvSpPr/>
          <p:nvPr/>
        </p:nvSpPr>
        <p:spPr>
          <a:xfrm>
            <a:off x="11050438" y="6443932"/>
            <a:ext cx="1069675" cy="405442"/>
          </a:xfrm>
          <a:prstGeom prst="rect">
            <a:avLst/>
          </a:prstGeom>
          <a:solidFill>
            <a:srgbClr val="FBFCFD"/>
          </a:solidFill>
          <a:ln>
            <a:solidFill>
              <a:srgbClr val="FBF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4158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Customer Preferences by Size &amp; Category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61475" y="1331615"/>
            <a:ext cx="1147833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Understanding the nuanced demand for each pizza category across different sizes is key to optimizing production and marketing.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869380"/>
            <a:ext cx="6365517" cy="41827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22468" y="1852613"/>
            <a:ext cx="411400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Key Takeaways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422468" y="2236291"/>
            <a:ext cx="4114003" cy="2492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Large &amp; Medium sizes dominate</a:t>
            </a:r>
            <a:r>
              <a:rPr lang="en-US" sz="12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across all categories, reinforcing their importance.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Supreme category</a:t>
            </a:r>
            <a:r>
              <a:rPr lang="en-US" sz="12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performs exceptionally well in </a:t>
            </a:r>
            <a:r>
              <a:rPr lang="en-US" sz="125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Large &amp; XL</a:t>
            </a:r>
            <a:r>
              <a:rPr lang="en-US" sz="12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sizes, indicating a preference for premium options for group orders.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Veggie pizzas</a:t>
            </a:r>
            <a:r>
              <a:rPr lang="en-US" sz="12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show a stronger presence in </a:t>
            </a:r>
            <a:r>
              <a:rPr lang="en-US" sz="125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Small</a:t>
            </a:r>
            <a:r>
              <a:rPr lang="en-US" sz="12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sizes, catering to individual preferences or lunch orders.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Chicken pizzas</a:t>
            </a:r>
            <a:r>
              <a:rPr lang="en-US" sz="12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are highly popular in </a:t>
            </a:r>
            <a:r>
              <a:rPr lang="en-US" sz="125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Medium</a:t>
            </a:r>
            <a:r>
              <a:rPr lang="en-US" sz="12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sizes, suggesting they are a go-to for family meals.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422468" y="4880173"/>
            <a:ext cx="4114003" cy="1262261"/>
          </a:xfrm>
          <a:prstGeom prst="roundRect">
            <a:avLst>
              <a:gd name="adj" fmla="val 11371"/>
            </a:avLst>
          </a:prstGeom>
          <a:solidFill>
            <a:srgbClr val="CFDBFC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1909" y="5092700"/>
            <a:ext cx="199325" cy="15944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940675" y="5041007"/>
            <a:ext cx="3436355" cy="940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          Focus marketing efforts on promoting Supreme pizzas in larger sizes and exploring potential for combo deals around Chicken Medium pizzas.         </a:t>
            </a:r>
            <a:endParaRPr lang="en-US" sz="12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043834-D4A4-4EFE-C685-ABC92EF92104}"/>
              </a:ext>
            </a:extLst>
          </p:cNvPr>
          <p:cNvSpPr/>
          <p:nvPr/>
        </p:nvSpPr>
        <p:spPr>
          <a:xfrm>
            <a:off x="11050438" y="6443932"/>
            <a:ext cx="1069675" cy="405442"/>
          </a:xfrm>
          <a:prstGeom prst="rect">
            <a:avLst/>
          </a:prstGeom>
          <a:solidFill>
            <a:srgbClr val="FBFCFD"/>
          </a:solidFill>
          <a:ln>
            <a:solidFill>
              <a:srgbClr val="FBF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5880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Key Insight: Data-Driven Growth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55440"/>
            <a:ext cx="6920831" cy="39218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99411" y="1986359"/>
            <a:ext cx="3537060" cy="1451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50" dirty="0">
                <a:solidFill>
                  <a:srgbClr val="FF6B35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From Data to Profit</a:t>
            </a:r>
            <a:endParaRPr lang="en-US" sz="4550" dirty="0"/>
          </a:p>
        </p:txBody>
      </p:sp>
      <p:sp>
        <p:nvSpPr>
          <p:cNvPr id="5" name="Text 2"/>
          <p:cNvSpPr/>
          <p:nvPr/>
        </p:nvSpPr>
        <p:spPr>
          <a:xfrm>
            <a:off x="7999411" y="3588246"/>
            <a:ext cx="3537060" cy="1272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Granular SQL analytics transform raw transaction logs into strategic intelligence. By optimizing inventory, targeting peak hours, and featuring top performers, you maximize both profitability and customer satisfaction.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2425" y="5695553"/>
            <a:ext cx="3517018" cy="6456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7845" y="5714603"/>
            <a:ext cx="3291599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Optimize Inventory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867845" y="6067524"/>
            <a:ext cx="3291599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Stock the right ingredients at the right time.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27714" y="5695553"/>
            <a:ext cx="3517117" cy="64561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53134" y="5714603"/>
            <a:ext cx="3291698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Target Peak Hours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4553134" y="6067524"/>
            <a:ext cx="3291698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Staff and market when it matters most.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13103" y="5695553"/>
            <a:ext cx="3517117" cy="64561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38522" y="5714603"/>
            <a:ext cx="3291698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Feature Top Performers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8238522" y="6067524"/>
            <a:ext cx="3291698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Let your bestsellers drive the bottom line.</a:t>
            </a:r>
            <a:endParaRPr lang="en-US" sz="13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2491BA-6C06-1D43-055B-6DB0FDB1B9CB}"/>
              </a:ext>
            </a:extLst>
          </p:cNvPr>
          <p:cNvSpPr/>
          <p:nvPr/>
        </p:nvSpPr>
        <p:spPr>
          <a:xfrm>
            <a:off x="11050438" y="6443932"/>
            <a:ext cx="1069675" cy="405442"/>
          </a:xfrm>
          <a:prstGeom prst="rect">
            <a:avLst/>
          </a:prstGeom>
          <a:solidFill>
            <a:srgbClr val="FBFCFD"/>
          </a:solidFill>
          <a:ln>
            <a:solidFill>
              <a:srgbClr val="FBF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765</Words>
  <Application>Microsoft Office PowerPoint</Application>
  <PresentationFormat>Widescreen</PresentationFormat>
  <Paragraphs>88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Outfit Medium</vt:lpstr>
      <vt:lpstr>Arial</vt:lpstr>
      <vt:lpstr>IBM Plex Sans</vt:lpstr>
      <vt:lpstr>IBM Plex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Akash Sarkar</cp:lastModifiedBy>
  <cp:revision>2</cp:revision>
  <dcterms:created xsi:type="dcterms:W3CDTF">2026-09-06T12:48:33Z</dcterms:created>
  <dcterms:modified xsi:type="dcterms:W3CDTF">2026-09-06T12:51:15Z</dcterms:modified>
</cp:coreProperties>
</file>